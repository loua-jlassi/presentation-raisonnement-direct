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RAISONNEMENT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Méthodes et applications du raisonnement 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Présenté par : Loua El Jelassi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Cours : Représentation de connaissances et raisonnements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Année académique :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Plan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Introduction - Historique</a:t>
            </a:r>
          </a:p>
          <a:p>
            <a:pPr>
              <a:defRPr sz="2000"/>
            </a:pPr>
            <a:r>
              <a:t>2. Qu'est-ce que le Raisonnement Direct ?</a:t>
            </a:r>
          </a:p>
          <a:p>
            <a:pPr>
              <a:defRPr sz="2000"/>
            </a:pPr>
            <a:r>
              <a:t>3. Architecture du Raisonnement Direct</a:t>
            </a:r>
          </a:p>
          <a:p>
            <a:pPr>
              <a:defRPr sz="2000"/>
            </a:pPr>
            <a:r>
              <a:t>4. Méthodes d'Inférence</a:t>
            </a:r>
          </a:p>
          <a:p>
            <a:pPr>
              <a:defRPr sz="2000"/>
            </a:pPr>
            <a:r>
              <a:t>5. Modus Ponens</a:t>
            </a:r>
          </a:p>
          <a:p>
            <a:pPr>
              <a:defRPr sz="2000"/>
            </a:pPr>
            <a:r>
              <a:t>6. Chaînage Avant</a:t>
            </a:r>
          </a:p>
          <a:p>
            <a:pPr>
              <a:defRPr sz="2000"/>
            </a:pPr>
            <a:r>
              <a:t>7. Chaînage Arrière</a:t>
            </a:r>
          </a:p>
          <a:p>
            <a:pPr>
              <a:defRPr sz="2000"/>
            </a:pPr>
            <a:r>
              <a:t>8. Exemple d'Application</a:t>
            </a:r>
          </a:p>
          <a:p>
            <a:pPr>
              <a:defRPr sz="2000"/>
            </a:pPr>
            <a:r>
              <a:t>9. Avantages &amp; Limites</a:t>
            </a:r>
          </a:p>
          <a:p>
            <a:pPr>
              <a:defRPr sz="2000"/>
            </a:pPr>
            <a:r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Père de la logique formelle : Aristote (384–322 av. J.-C.)</a:t>
            </a:r>
          </a:p>
          <a:p>
            <a:pPr>
              <a:defRPr sz="1800"/>
            </a:pPr>
            <a:r>
              <a:t>Il introduit le syllogisme dans Organon, base du raisonnement déductif moderne.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L'Évolution Historique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XXᵉ siècle : Frege, Tarski et Turing formalisent la logique</a:t>
            </a:r>
          </a:p>
          <a:p>
            <a:pPr>
              <a:defRPr sz="2000"/>
            </a:pPr>
            <a:r>
              <a:t>Années 1950–1970 : Naissance des systèmes experts et des moteurs d'inférence</a:t>
            </a:r>
          </a:p>
          <a:p>
            <a:pPr>
              <a:defRPr sz="2000"/>
            </a:pPr>
            <a:r>
              <a:t>Aujourd'hui : Utilisé dans l'IA, la vérification formelle et les bases de données déductives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Qu'est-ce que le raisonnement direct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Le raisonnement direct est une méthode de déduction logique qui permet d'inférer de nouvelles connaissances à partir de faits et de règles déjà connus.</a:t>
            </a:r>
          </a:p>
          <a:p>
            <a:pPr>
              <a:defRPr sz="1800"/>
            </a:pPr>
            <a:r>
              <a:t>Il repose sur l'application systématique et déterministe de règles d'inférence afin de produire des conclusions logiquement valides.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Principe de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Prend des faits initiaux (prémisses)</a:t>
            </a:r>
          </a:p>
          <a:p>
            <a:pPr>
              <a:defRPr sz="2000"/>
            </a:pPr>
            <a:r>
              <a:t>2. Applique des règles logiques (règles d'inférence)</a:t>
            </a:r>
          </a:p>
          <a:p>
            <a:pPr>
              <a:defRPr sz="2000"/>
            </a:pPr>
            <a:r>
              <a:t>3. Génère de nouvelles conclusions (faits dérivés)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Schéma du processus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FAITS INITIAUX (P, Q, R...) → RÈGLES (P→Q, Q→R...) → CONCLUSIONS (S, T, U...)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Caractéristiques du raisonnement direct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Déterministe : Produit toujours le même résultat pour les mêmes prémisses</a:t>
            </a:r>
          </a:p>
          <a:p>
            <a:pPr>
              <a:defRPr sz="2000"/>
            </a:pPr>
            <a:r>
              <a:t>Monotone : Les conclusions restent valides même après l'ajout de nouvelles informations</a:t>
            </a:r>
          </a:p>
          <a:p>
            <a:pPr>
              <a:defRPr sz="2000"/>
            </a:pPr>
            <a:r>
              <a:t>Complet : Toutes les conclusions logiquement possibles peuvent être déduites</a:t>
            </a:r>
          </a:p>
          <a:p>
            <a:pPr>
              <a:defRPr sz="2000"/>
            </a:pPr>
            <a:r>
              <a:t>Sûr : Ne produit que des conclusions logiquement valides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Types de raisonnement direct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Chaînage avant : Faits → Conclusions</a:t>
            </a:r>
          </a:p>
          <a:p>
            <a:pPr>
              <a:defRPr sz="2000"/>
            </a:pPr>
            <a:r>
              <a:t>Chaînage arrière : But → Prémisses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Architecture - Composants principaux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Base de faits : Contient les connaissances connues</a:t>
            </a:r>
          </a:p>
          <a:p>
            <a:pPr>
              <a:defRPr sz="2000"/>
            </a:pPr>
            <a:r>
              <a:t>2. Base de règles : Regroupe les règles d'inférence</a:t>
            </a:r>
          </a:p>
          <a:p>
            <a:pPr>
              <a:defRPr sz="2000"/>
            </a:pPr>
            <a:r>
              <a:t>3. Moteur d'inférence : Cœur du système</a:t>
            </a:r>
          </a:p>
          <a:p>
            <a:pPr>
              <a:defRPr sz="2000"/>
            </a:pPr>
            <a:r>
              <a:t>4. Mémoire de travail : Espace temporaire pour les conclusions intermédiaires</a:t>
            </a:r>
          </a:p>
          <a:p>
            <a:pPr>
              <a:defRPr sz="2000"/>
            </a:pPr>
            <a:r>
              <a:t>5. Interface utilisateur : Permet l'interaction avec le système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Schéma simplifié de l'architecture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Base de Règles ↑</a:t>
            </a:r>
          </a:p>
          <a:p>
            <a:pPr>
              <a:defRPr sz="1800"/>
            </a:pPr>
            <a:r>
              <a:t>Interface/Utilisateur → Moteur d'Inférence → Base de Faits</a:t>
            </a:r>
          </a:p>
          <a:p>
            <a:pPr>
              <a:defRPr sz="1800"/>
            </a:pPr>
            <a:r>
              <a:t>↓ Mémoire de Travail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Fonctionnement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1. L'utilisateur saisit les faits initiaux</a:t>
            </a:r>
          </a:p>
          <a:p>
            <a:pPr>
              <a:defRPr sz="2000"/>
            </a:pPr>
            <a:r>
              <a:t>2. Le moteur d'inférence identifie les règles applicables</a:t>
            </a:r>
          </a:p>
          <a:p>
            <a:pPr>
              <a:defRPr sz="2000"/>
            </a:pPr>
            <a:r>
              <a:t>3. Les conclusions déduites sont ajoutées à la base de faits</a:t>
            </a:r>
          </a:p>
          <a:p>
            <a:pPr>
              <a:defRPr sz="2000"/>
            </a:pPr>
            <a:r>
              <a:t>4. Le processus se répète jusqu'à ce qu'aucune règle ne soit plus applicable</a:t>
            </a:r>
          </a:p>
          <a:p>
            <a:pPr>
              <a:defRPr sz="2000"/>
            </a:pPr>
            <a:r>
              <a:t>5. Le module d'explication présente les résultats finaux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Les Méthodes d'Inférence les Plus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Modus Ponens : Règle d'inférence de base</a:t>
            </a:r>
          </a:p>
          <a:p>
            <a:pPr>
              <a:defRPr sz="2000"/>
            </a:pPr>
            <a:r>
              <a:t>Chaînage avant : Part des faits connus</a:t>
            </a:r>
          </a:p>
          <a:p>
            <a:pPr>
              <a:defRPr sz="2000"/>
            </a:pPr>
            <a:r>
              <a:t>Chaînage arrière : Part d'un but à vérifier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Modus Ponens (Règle Fondamentale)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Principe : Règle d'inférence fondamentale sur laquelle reposent toutes les autres méthodes</a:t>
            </a:r>
          </a:p>
          <a:p>
            <a:pPr>
              <a:defRPr sz="1800"/>
            </a:pPr>
            <a:r>
              <a:t>Forme générale :</a:t>
            </a:r>
          </a:p>
          <a:p>
            <a:pPr>
              <a:defRPr sz="1800"/>
            </a:pPr>
            <a:r>
              <a:t>  P → Q</a:t>
            </a:r>
          </a:p>
          <a:p>
            <a:pPr>
              <a:defRPr sz="1800"/>
            </a:pPr>
            <a:r>
              <a:t>  P</a:t>
            </a:r>
          </a:p>
          <a:p>
            <a:pPr>
              <a:defRPr sz="1800"/>
            </a:pPr>
            <a:r>
              <a:t>  ∴ Q</a:t>
            </a:r>
          </a:p>
          <a:p>
            <a:pPr>
              <a:defRPr sz="1800"/>
            </a:pPr>
            <a:r>
              <a:t>En mots simples : Si P implique Q et que P est vrai, alors Q est nécessairement vrai.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Modus Ponens - Avantages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Simple à comprendre et à appliquer</a:t>
            </a:r>
          </a:p>
          <a:p>
            <a:pPr>
              <a:defRPr sz="2000"/>
            </a:pPr>
            <a:r>
              <a:t>Logique et universelle</a:t>
            </a:r>
          </a:p>
          <a:p>
            <a:pPr>
              <a:defRPr sz="2000"/>
            </a:pPr>
            <a:r>
              <a:t>Sert de base aux chaînages avant et arrière</a:t>
            </a:r>
          </a:p>
          <a:p>
            <a:pPr>
              <a:defRPr sz="2000"/>
            </a:pPr>
            <a:r>
              <a:t>Utilisée dans tous les moteurs d'inférence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Chaînage Avant (Forward Chaining)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Principe : Méthode la plus utilisée dans les systèmes experts</a:t>
            </a:r>
          </a:p>
          <a:p>
            <a:pPr>
              <a:defRPr sz="1800"/>
            </a:pPr>
            <a:r>
              <a:t>Fonctionnement :</a:t>
            </a:r>
          </a:p>
          <a:p>
            <a:pPr>
              <a:defRPr sz="1800"/>
            </a:pPr>
            <a:r>
              <a:t>1. Le moteur utilise la base de faits initiale</a:t>
            </a:r>
          </a:p>
          <a:p>
            <a:pPr>
              <a:defRPr sz="1800"/>
            </a:pPr>
            <a:r>
              <a:t>2. Il applique toutes les règles dont les conditions sont satisfaites</a:t>
            </a:r>
          </a:p>
          <a:p>
            <a:pPr>
              <a:defRPr sz="1800"/>
            </a:pPr>
            <a:r>
              <a:t>3. Les conclusions sont ajoutées à la base de faits</a:t>
            </a:r>
          </a:p>
          <a:p>
            <a:pPr>
              <a:defRPr sz="1800"/>
            </a:pPr>
            <a:r>
              <a:t>4. Le processus se répète jusqu'à épuisement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Chaînage Avant - 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Règle : S'il pleut → la route est mouillée</a:t>
            </a:r>
          </a:p>
          <a:p>
            <a:pPr>
              <a:defRPr sz="1800"/>
            </a:pPr>
            <a:r>
              <a:t>Fait : Il pleut</a:t>
            </a:r>
          </a:p>
          <a:p>
            <a:pPr>
              <a:defRPr sz="1800"/>
            </a:pPr>
            <a:r>
              <a:t>⇒ Conclusion : La route est mouillée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Avantages :</a:t>
            </a:r>
          </a:p>
          <a:p>
            <a:pPr>
              <a:defRPr sz="1800"/>
            </a:pPr>
            <a:r>
              <a:t>- Facile à implémenter</a:t>
            </a:r>
          </a:p>
          <a:p>
            <a:pPr>
              <a:defRPr sz="1800"/>
            </a:pPr>
            <a:r>
              <a:t>- Très efficace pour générer de nouvelles connaissances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Chaînage Arrière (Backward Chaining)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Principe : Part d'un objectif ou d'une conclusion à vérifier et remonte pour déterminer les faits nécessaires</a:t>
            </a:r>
          </a:p>
          <a:p>
            <a:pPr>
              <a:defRPr sz="1800"/>
            </a:pPr>
            <a:r>
              <a:t>Fonctionnement :</a:t>
            </a:r>
          </a:p>
          <a:p>
            <a:pPr>
              <a:defRPr sz="1800"/>
            </a:pPr>
            <a:r>
              <a:t>1. L'utilisateur définit un objectif</a:t>
            </a:r>
          </a:p>
          <a:p>
            <a:pPr>
              <a:defRPr sz="1800"/>
            </a:pPr>
            <a:r>
              <a:t>2. Le moteur identifie les règles pouvant produire cette conclusion</a:t>
            </a:r>
          </a:p>
          <a:p>
            <a:pPr>
              <a:defRPr sz="1800"/>
            </a:pPr>
            <a:r>
              <a:t>3. Il vérifie si les conditions sont satisfaites</a:t>
            </a:r>
          </a:p>
          <a:p>
            <a:pPr>
              <a:defRPr sz="1800"/>
            </a:pPr>
            <a:r>
              <a:t>4. Si non, il cherche les faits nécessaires</a:t>
            </a:r>
          </a:p>
          <a:p>
            <a:pPr>
              <a:defRPr sz="1800"/>
            </a:pPr>
            <a:r>
              <a:t>5. Le processus se répète jusqu'à validation ou échec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Chaînage Arrière - 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Objectif : La route est mouillée</a:t>
            </a:r>
          </a:p>
          <a:p>
            <a:pPr>
              <a:defRPr sz="1800"/>
            </a:pPr>
            <a:r>
              <a:t>Règle : S'il pleut → la route est mouillée</a:t>
            </a:r>
          </a:p>
          <a:p>
            <a:pPr>
              <a:defRPr sz="1800"/>
            </a:pPr>
            <a:r>
              <a:t>Fait : Il pleut</a:t>
            </a:r>
          </a:p>
          <a:p>
            <a:pPr>
              <a:defRPr sz="1800"/>
            </a:pPr>
            <a:r>
              <a:t>⇒ Conclusion : L'objectif « la route est mouillée » est validé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Avantages :</a:t>
            </a:r>
          </a:p>
          <a:p>
            <a:pPr>
              <a:defRPr sz="1800"/>
            </a:pPr>
            <a:r>
              <a:t>- Permet de se concentrer sur un objectif précis</a:t>
            </a:r>
          </a:p>
          <a:p>
            <a:pPr>
              <a:defRPr sz="1800"/>
            </a:pPr>
            <a:r>
              <a:t>- Efficace pour les systèmes de diagnostic et de planification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Exemple d'application - Système de diagnostic médical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Fonctionnement :</a:t>
            </a:r>
          </a:p>
          <a:p>
            <a:pPr>
              <a:defRPr sz="1800"/>
            </a:pPr>
            <a:r>
              <a:t>1. Le patient présente des symptômes (fièvre, toux, fatigue)</a:t>
            </a:r>
          </a:p>
          <a:p>
            <a:pPr>
              <a:defRPr sz="1800"/>
            </a:pPr>
            <a:r>
              <a:t>2. Le système applique les règles de diagnostic</a:t>
            </a:r>
          </a:p>
          <a:p>
            <a:pPr>
              <a:defRPr sz="1800"/>
            </a:pPr>
            <a:r>
              <a:t>3. Il génère un diagnostic avec probabilités et recommandations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Schéma du processus de 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Base de faits : Fièvre • Toux • Fatigue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Moteur d'inférence : Application des règles</a:t>
            </a:r>
          </a:p>
          <a:p>
            <a:pPr>
              <a:defRPr sz="1800"/>
            </a:pPr>
            <a:r>
              <a:t>  Règle 1: Fièvre + Toux → Grippe</a:t>
            </a:r>
          </a:p>
          <a:p>
            <a:pPr>
              <a:defRPr sz="1800"/>
            </a:pPr>
            <a:r>
              <a:t>  Règle 2: Fièvre + Fatigue → Infection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Diagnostic : Grippe (probabilité: 85%)</a:t>
            </a:r>
          </a:p>
          <a:p>
            <a:pPr>
              <a:defRPr sz="1800"/>
            </a:pPr>
            <a:r>
              <a:t>Traitement: Repos, hydratation, médicaments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Principaux avantages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Déterminisme : Résultats prévisibles et reproductibles</a:t>
            </a:r>
          </a:p>
          <a:p>
            <a:pPr>
              <a:defRPr sz="2000"/>
            </a:pPr>
            <a:r>
              <a:t>Sûreté : Seules des conclusions logiquement valides sont produites</a:t>
            </a:r>
          </a:p>
          <a:p>
            <a:pPr>
              <a:defRPr sz="2000"/>
            </a:pPr>
            <a:r>
              <a:t>Efficacité : Rapide et simple à mettre en œuvre</a:t>
            </a:r>
          </a:p>
          <a:p>
            <a:pPr>
              <a:defRPr sz="2000"/>
            </a:pPr>
            <a:r>
              <a:t>Transparence : Raisonnement traçable et compréhensible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Principales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Rigidité : Ne gère pas l'incertitude ou les informations incomplètes</a:t>
            </a:r>
          </a:p>
          <a:p>
            <a:pPr>
              <a:defRPr sz="2000"/>
            </a:pPr>
            <a:r>
              <a:t>Complexité computationnelle : Peut être coûteux pour de grandes bases</a:t>
            </a:r>
          </a:p>
          <a:p>
            <a:pPr>
              <a:defRPr sz="2000"/>
            </a:pPr>
            <a:r>
              <a:t>Absence d'apprentissage : Ne s'améliore pas automatiquement</a:t>
            </a:r>
          </a:p>
          <a:p>
            <a:pPr>
              <a:defRPr sz="2000"/>
            </a:pPr>
            <a:r>
              <a:t>Explosion combinatoire : Le nombre de règles peut croître rapidement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Le raisonnement direct permet d'inférer de nouvelles connaissances de façon logique, prévisible et traçable.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Il est largement utilisé dans les systèmes experts et l'intelligence artificielle, malgré ses limites.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C'est un outil fondamental pour l'automatisation du raisonnement logique et il continue d'évoluer avec les technologies modernes.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et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Merci pour votre attention !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Prêt à répondre à vos questions sur le raisonnement direct et ses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